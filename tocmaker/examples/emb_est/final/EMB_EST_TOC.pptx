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tocicon1.svg" ContentType="image/svg+xml"/>
  <Override PartName="/ppt/media/tocicon2.svg" ContentType="image/svg+xml"/>
  <Override PartName="/ppt/media/tocicon3.svg" ContentType="image/svg+xml"/>
  <Override PartName="/ppt/media/tocicon4.svg" ContentType="image/svg+xml"/>
  <Override PartName="/ppt/media/tocicon5.svg" ContentType="image/svg+xml"/>
  <Override PartName="/ppt/media/tocicon6.svg" ContentType="image/svg+xml"/>
  <Override PartName="/ppt/media/tocicon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971800" cy="1600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Generated by tocmaker from spec:</a:t>
            </a:r>
          </a:p>
          <a:p>
            <a:r>
              <a:t># ES&amp;T TOC graphic — Gu et al., emamectin benzoate (EMB) reaches the zebrafish brain and reroutes tryptophan</a:t>
            </a:r>
          </a:p>
          <a:p>
            <a:r>
              <a:t>journal: acs</a:t>
            </a:r>
          </a:p>
          <a:p>
            <a:r>
              <a:t>palette: envtox</a:t>
            </a:r>
          </a:p>
          <a:p>
            <a:r>
              <a:t>template: flow</a:t>
            </a:r>
          </a:p>
          <a:p>
            <a:r>
              <a:t>font_pt: 7</a:t>
            </a:r>
          </a:p>
          <a:p>
            <a:r>
              <a:t>options: {gap_pt: 7}</a:t>
            </a:r>
          </a:p>
          <a:p>
            <a:r>
              <a:t>panels:</a:t>
            </a:r>
          </a:p>
          <a:p>
            <a:r>
              <a:t>  - role: exposure</a:t>
            </a:r>
          </a:p>
          <a:p>
            <a:r>
              <a:t>    label: EMB 0.1–10 µg/L</a:t>
            </a:r>
          </a:p>
          <a:p>
            <a:r>
              <a:t>    icons: [pesticide-sprayer, water-drop-contaminated]</a:t>
            </a:r>
          </a:p>
          <a:p>
            <a:r>
              <a:t>  - role: organism</a:t>
            </a:r>
          </a:p>
          <a:p>
            <a:r>
              <a:t>    label: Enters fish brain</a:t>
            </a:r>
          </a:p>
          <a:p>
            <a:r>
              <a:t>    sublabel: ♂ &gt; ♀</a:t>
            </a:r>
          </a:p>
          <a:p>
            <a:r>
              <a:t>    icons: [{id: zebrafish-adult, scale: 1.2}, brain]</a:t>
            </a:r>
          </a:p>
          <a:p>
            <a:r>
              <a:t>    weight: 1.1</a:t>
            </a:r>
          </a:p>
          <a:p>
            <a:r>
              <a:t>  - role: mechanism</a:t>
            </a:r>
          </a:p>
          <a:p>
            <a:r>
              <a:t>    label: Trp → kynurenine</a:t>
            </a:r>
          </a:p>
          <a:p>
            <a:r>
              <a:t>    sublabel: serotonin ↓</a:t>
            </a:r>
          </a:p>
          <a:p>
            <a:r>
              <a:t>    icons: [{id: tocmaker/examples/emb_est/trp-fork.svg, scale: 1.1}]</a:t>
            </a:r>
          </a:p>
          <a:p>
            <a:r>
              <a:t>  - role: outcome</a:t>
            </a:r>
          </a:p>
          <a:p>
            <a:r>
              <a:t>    label: Anxiety, memory loss</a:t>
            </a:r>
          </a:p>
          <a:p>
            <a:r>
              <a:t>    sublabel: serotonin rescues</a:t>
            </a:r>
          </a:p>
          <a:p>
            <a:r>
              <a:t>    icons: [tocmaker/examples/emb_est/anxious-fish.svg, tocmaker/examples/emb_est/t-maze-fish.svg]</a:t>
            </a:r>
          </a:p>
          <a:p>
            <a:r>
              <a:t>    weight: 1.1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tocicon1.svg"/><Relationship Id="rId4" Type="http://schemas.openxmlformats.org/officeDocument/2006/relationships/image" Target="../media/image2.png"/><Relationship Id="rId5" Type="http://schemas.openxmlformats.org/officeDocument/2006/relationships/image" Target="../media/tocicon2.svg"/><Relationship Id="rId6" Type="http://schemas.openxmlformats.org/officeDocument/2006/relationships/image" Target="../media/image3.png"/><Relationship Id="rId7" Type="http://schemas.openxmlformats.org/officeDocument/2006/relationships/image" Target="../media/tocicon3.svg"/><Relationship Id="rId8" Type="http://schemas.openxmlformats.org/officeDocument/2006/relationships/image" Target="../media/image4.png"/><Relationship Id="rId9" Type="http://schemas.openxmlformats.org/officeDocument/2006/relationships/image" Target="../media/tocicon4.svg"/><Relationship Id="rId10" Type="http://schemas.openxmlformats.org/officeDocument/2006/relationships/image" Target="../media/image5.png"/><Relationship Id="rId11" Type="http://schemas.openxmlformats.org/officeDocument/2006/relationships/image" Target="../media/tocicon5.svg"/><Relationship Id="rId12" Type="http://schemas.openxmlformats.org/officeDocument/2006/relationships/image" Target="../media/image6.png"/><Relationship Id="rId13" Type="http://schemas.openxmlformats.org/officeDocument/2006/relationships/image" Target="../media/tocicon6.svg"/><Relationship Id="rId14" Type="http://schemas.openxmlformats.org/officeDocument/2006/relationships/image" Target="../media/image7.png"/><Relationship Id="rId15" Type="http://schemas.openxmlformats.org/officeDocument/2006/relationships/image" Target="../media/tocicon7.svg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297180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nel 0 (exposure)"/>
          <p:cNvSpPr/>
          <p:nvPr/>
        </p:nvSpPr>
        <p:spPr>
          <a:xfrm>
            <a:off x="50800" y="50800"/>
            <a:ext cx="619881" cy="1498600"/>
          </a:xfrm>
          <a:prstGeom prst="roundRect">
            <a:avLst>
              <a:gd name="adj" fmla="val 8195"/>
            </a:avLst>
          </a:prstGeom>
          <a:solidFill>
            <a:srgbClr val="F8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icon: envtox/pesticide-sprayer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ns0:svgBlip xmlns:ns0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900" y="107509"/>
            <a:ext cx="543681" cy="543681"/>
          </a:xfrm>
          <a:prstGeom prst="rect">
            <a:avLst/>
          </a:prstGeom>
        </p:spPr>
      </p:pic>
      <p:pic>
        <p:nvPicPr>
          <p:cNvPr id="5" name="icon: envtox/water-drop-contaminated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ns1:svgBlip xmlns:ns1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" y="713807"/>
            <a:ext cx="543681" cy="543681"/>
          </a:xfrm>
          <a:prstGeom prst="rect">
            <a:avLst/>
          </a:prstGeom>
        </p:spPr>
      </p:pic>
      <p:sp>
        <p:nvSpPr>
          <p:cNvPr id="6" name="label: EMB 0.1–10"/>
          <p:cNvSpPr txBox="1"/>
          <p:nvPr/>
        </p:nvSpPr>
        <p:spPr>
          <a:xfrm>
            <a:off x="88900" y="1295146"/>
            <a:ext cx="543681" cy="222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EMB 0.1–10</a:t>
            </a:r>
          </a:p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µg/L</a:t>
            </a:r>
          </a:p>
        </p:txBody>
      </p:sp>
      <p:sp>
        <p:nvSpPr>
          <p:cNvPr id="7" name="panel 1 (organism)"/>
          <p:cNvSpPr/>
          <p:nvPr/>
        </p:nvSpPr>
        <p:spPr>
          <a:xfrm>
            <a:off x="759581" y="50800"/>
            <a:ext cx="681869" cy="1498600"/>
          </a:xfrm>
          <a:prstGeom prst="roundRect">
            <a:avLst>
              <a:gd name="adj" fmla="val 7450"/>
            </a:avLst>
          </a:prstGeom>
          <a:solidFill>
            <a:srgbClr val="EA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envtox/zebrafish-adult" descr="image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ns2:svgBlip xmlns:ns2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8951" y="35306"/>
            <a:ext cx="643128" cy="643128"/>
          </a:xfrm>
          <a:prstGeom prst="rect">
            <a:avLst/>
          </a:prstGeom>
        </p:spPr>
      </p:pic>
      <p:pic>
        <p:nvPicPr>
          <p:cNvPr id="9" name="icon: envtox/brain" descr="image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ns3:svgBlip xmlns:ns3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545" y="650240"/>
            <a:ext cx="535940" cy="535940"/>
          </a:xfrm>
          <a:prstGeom prst="rect">
            <a:avLst/>
          </a:prstGeom>
        </p:spPr>
      </p:pic>
      <p:sp>
        <p:nvSpPr>
          <p:cNvPr id="10" name="label: Enters fish"/>
          <p:cNvSpPr txBox="1"/>
          <p:nvPr/>
        </p:nvSpPr>
        <p:spPr>
          <a:xfrm>
            <a:off x="797681" y="1205230"/>
            <a:ext cx="605669" cy="222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Enters fish</a:t>
            </a:r>
          </a:p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brain</a:t>
            </a:r>
          </a:p>
        </p:txBody>
      </p:sp>
      <p:sp>
        <p:nvSpPr>
          <p:cNvPr id="11" name="label: ♂ &gt; ♀"/>
          <p:cNvSpPr txBox="1"/>
          <p:nvPr/>
        </p:nvSpPr>
        <p:spPr>
          <a:xfrm>
            <a:off x="797681" y="1415034"/>
            <a:ext cx="605669" cy="102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4B5563"/>
                </a:solidFill>
                <a:latin typeface="Arial"/>
              </a:rPr>
              <a:t>♂ &gt; ♀</a:t>
            </a:r>
          </a:p>
        </p:txBody>
      </p:sp>
      <p:sp>
        <p:nvSpPr>
          <p:cNvPr id="12" name="panel 2 (mechanism)"/>
          <p:cNvSpPr/>
          <p:nvPr/>
        </p:nvSpPr>
        <p:spPr>
          <a:xfrm>
            <a:off x="1530350" y="50800"/>
            <a:ext cx="619881" cy="1498600"/>
          </a:xfrm>
          <a:prstGeom prst="roundRect">
            <a:avLst>
              <a:gd name="adj" fmla="val 8195"/>
            </a:avLst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icon: trp-fork" descr="image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ns4:svgBlip xmlns:ns4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68450" y="365700"/>
            <a:ext cx="543681" cy="543681"/>
          </a:xfrm>
          <a:prstGeom prst="rect">
            <a:avLst/>
          </a:prstGeom>
        </p:spPr>
      </p:pic>
      <p:sp>
        <p:nvSpPr>
          <p:cNvPr id="14" name="label: Trp →"/>
          <p:cNvSpPr txBox="1"/>
          <p:nvPr/>
        </p:nvSpPr>
        <p:spPr>
          <a:xfrm>
            <a:off x="1568450" y="1205230"/>
            <a:ext cx="543681" cy="222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Trp →</a:t>
            </a:r>
          </a:p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kynurenine</a:t>
            </a:r>
          </a:p>
        </p:txBody>
      </p:sp>
      <p:sp>
        <p:nvSpPr>
          <p:cNvPr id="15" name="label: serotonin ↓"/>
          <p:cNvSpPr txBox="1"/>
          <p:nvPr/>
        </p:nvSpPr>
        <p:spPr>
          <a:xfrm>
            <a:off x="1568450" y="1415034"/>
            <a:ext cx="543681" cy="102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4B5563"/>
                </a:solidFill>
                <a:latin typeface="Arial"/>
              </a:rPr>
              <a:t>serotonin ↓</a:t>
            </a:r>
          </a:p>
        </p:txBody>
      </p:sp>
      <p:sp>
        <p:nvSpPr>
          <p:cNvPr id="16" name="panel 3 (outcome)"/>
          <p:cNvSpPr/>
          <p:nvPr/>
        </p:nvSpPr>
        <p:spPr>
          <a:xfrm>
            <a:off x="2239131" y="50800"/>
            <a:ext cx="681869" cy="1498600"/>
          </a:xfrm>
          <a:prstGeom prst="roundRect">
            <a:avLst>
              <a:gd name="adj" fmla="val 7450"/>
            </a:avLst>
          </a:prstGeom>
          <a:solidFill>
            <a:srgbClr val="EF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icon: anxious-fish" descr="image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ns5:svgBlip xmlns:ns5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12095" y="88900"/>
            <a:ext cx="535940" cy="535940"/>
          </a:xfrm>
          <a:prstGeom prst="rect">
            <a:avLst/>
          </a:prstGeom>
        </p:spPr>
      </p:pic>
      <p:pic>
        <p:nvPicPr>
          <p:cNvPr id="18" name="icon: t-maze-fish" descr="image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ns6:svgBlip xmlns:ns6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12095" y="650240"/>
            <a:ext cx="535940" cy="535940"/>
          </a:xfrm>
          <a:prstGeom prst="rect">
            <a:avLst/>
          </a:prstGeom>
        </p:spPr>
      </p:pic>
      <p:sp>
        <p:nvSpPr>
          <p:cNvPr id="19" name="label: Anxiety,"/>
          <p:cNvSpPr txBox="1"/>
          <p:nvPr/>
        </p:nvSpPr>
        <p:spPr>
          <a:xfrm>
            <a:off x="2277231" y="1205230"/>
            <a:ext cx="605669" cy="222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Anxiety,</a:t>
            </a:r>
          </a:p>
          <a:p>
            <a:pPr algn="ctr">
              <a:lnSpc>
                <a:spcPct val="100000"/>
              </a:lnSpc>
            </a:pPr>
            <a:r>
              <a:rPr sz="700" b="1">
                <a:solidFill>
                  <a:srgbClr val="1F2937"/>
                </a:solidFill>
                <a:latin typeface="Arial"/>
              </a:rPr>
              <a:t>memory loss</a:t>
            </a:r>
          </a:p>
        </p:txBody>
      </p:sp>
      <p:sp>
        <p:nvSpPr>
          <p:cNvPr id="20" name="label: serotonin rescues"/>
          <p:cNvSpPr txBox="1"/>
          <p:nvPr/>
        </p:nvSpPr>
        <p:spPr>
          <a:xfrm>
            <a:off x="2277231" y="1415034"/>
            <a:ext cx="605669" cy="1026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00000"/>
              </a:lnSpc>
            </a:pPr>
            <a:r>
              <a:rPr sz="600" b="0">
                <a:solidFill>
                  <a:srgbClr val="4B5563"/>
                </a:solidFill>
                <a:latin typeface="Arial"/>
              </a:rPr>
              <a:t>serotonin rescues</a:t>
            </a:r>
          </a:p>
        </p:txBody>
      </p:sp>
      <p:cxnSp>
        <p:nvCxnSpPr>
          <p:cNvPr id="21" name="arrow"/>
          <p:cNvCxnSpPr/>
          <p:nvPr/>
        </p:nvCxnSpPr>
        <p:spPr>
          <a:xfrm>
            <a:off x="689731" y="660019"/>
            <a:ext cx="50800" cy="0"/>
          </a:xfrm>
          <a:prstGeom prst="line">
            <a:avLst/>
          </a:prstGeom>
          <a:ln w="1778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rrow"/>
          <p:cNvCxnSpPr/>
          <p:nvPr/>
        </p:nvCxnSpPr>
        <p:spPr>
          <a:xfrm>
            <a:off x="1460500" y="637540"/>
            <a:ext cx="50800" cy="0"/>
          </a:xfrm>
          <a:prstGeom prst="line">
            <a:avLst/>
          </a:prstGeom>
          <a:ln w="1778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rrow"/>
          <p:cNvCxnSpPr/>
          <p:nvPr/>
        </p:nvCxnSpPr>
        <p:spPr>
          <a:xfrm>
            <a:off x="2169281" y="637540"/>
            <a:ext cx="50800" cy="0"/>
          </a:xfrm>
          <a:prstGeom prst="line">
            <a:avLst/>
          </a:prstGeom>
          <a:ln w="17780">
            <a:solidFill>
              <a:srgbClr val="9AA5B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