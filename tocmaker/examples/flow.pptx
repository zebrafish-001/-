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tocicon1.svg" ContentType="image/svg+xml"/>
  <Override PartName="/ppt/media/tocicon2.svg" ContentType="image/svg+xml"/>
  <Override PartName="/ppt/media/tocicon3.svg" ContentType="image/svg+xml"/>
  <Override PartName="/ppt/media/tocicon4.svg" ContentType="image/svg+xml"/>
  <Override PartName="/ppt/media/tocicon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71800" cy="1600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by tocmaker from spec:</a:t>
            </a:r>
          </a:p>
          <a:p>
            <a:r>
              <a:t># Left-to-right story: exposure -&gt; mechanism -&gt; outcome (the ES&amp;T / Environ Int default)</a:t>
            </a:r>
          </a:p>
          <a:p>
            <a:r>
              <a:t>journal: acs</a:t>
            </a:r>
          </a:p>
          <a:p>
            <a:r>
              <a:t>palette: envtox</a:t>
            </a:r>
          </a:p>
          <a:p>
            <a:r>
              <a:t>template: flow</a:t>
            </a:r>
          </a:p>
          <a:p>
            <a:r>
              <a:t>panels:</a:t>
            </a:r>
          </a:p>
          <a:p>
            <a:r>
              <a:t>  - role: exposure</a:t>
            </a:r>
          </a:p>
          <a:p>
            <a:r>
              <a:t>    label: Prenatal PFAS exposure</a:t>
            </a:r>
          </a:p>
          <a:p>
            <a:r>
              <a:t>    sublabel: maternal serum, 1st trimester</a:t>
            </a:r>
          </a:p>
          <a:p>
            <a:r>
              <a:t>    icons: [pregnant-woman, chemical-flask-hazard]</a:t>
            </a:r>
          </a:p>
          <a:p>
            <a:r>
              <a:t>  - role: mechanism</a:t>
            </a:r>
          </a:p>
          <a:p>
            <a:r>
              <a:t>    label: Placental inflammation</a:t>
            </a:r>
          </a:p>
          <a:p>
            <a:r>
              <a:t>    icons: [placenta-umbilical, inflammation-cell]</a:t>
            </a:r>
          </a:p>
          <a:p>
            <a:r>
              <a:t>  - role: outcome</a:t>
            </a:r>
          </a:p>
          <a:p>
            <a:r>
              <a:t>    label: Lower birth weight</a:t>
            </a:r>
          </a:p>
          <a:p>
            <a:r>
              <a:t>    icons: [fetus]</a:t>
            </a:r>
          </a:p>
          <a:p>
            <a:r>
              <a:t>    badge: "−48 g per ln-unit"</a:t>
            </a:r>
          </a:p>
          <a:p>
            <a:r>
              <a:t>arrows:</a:t>
            </a:r>
          </a:p>
          <a:p>
            <a:r>
              <a:t>  - {from: 0, to: 1}</a:t>
            </a:r>
          </a:p>
          <a:p>
            <a:r>
              <a:t>  - {from: 1, to: 2, label: mediates, style: dashed}</a:t>
            </a:r>
          </a:p>
          <a:p>
            <a:r>
              <a:t>footer: "n = 1,203 mother–infant pairs, prospective cohort"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tocicon1.svg"/><Relationship Id="rId4" Type="http://schemas.openxmlformats.org/officeDocument/2006/relationships/image" Target="../media/image2.png"/><Relationship Id="rId5" Type="http://schemas.openxmlformats.org/officeDocument/2006/relationships/image" Target="../media/tocicon2.svg"/><Relationship Id="rId6" Type="http://schemas.openxmlformats.org/officeDocument/2006/relationships/image" Target="../media/image3.png"/><Relationship Id="rId7" Type="http://schemas.openxmlformats.org/officeDocument/2006/relationships/image" Target="../media/tocicon3.svg"/><Relationship Id="rId8" Type="http://schemas.openxmlformats.org/officeDocument/2006/relationships/image" Target="../media/image4.png"/><Relationship Id="rId9" Type="http://schemas.openxmlformats.org/officeDocument/2006/relationships/image" Target="../media/tocicon4.svg"/><Relationship Id="rId10" Type="http://schemas.openxmlformats.org/officeDocument/2006/relationships/image" Target="../media/image5.png"/><Relationship Id="rId11" Type="http://schemas.openxmlformats.org/officeDocument/2006/relationships/image" Target="../media/tocicon5.sv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97180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 n = 1,203 mother–infant pairs,"/>
          <p:cNvSpPr txBox="1"/>
          <p:nvPr/>
        </p:nvSpPr>
        <p:spPr>
          <a:xfrm>
            <a:off x="50800" y="1443990"/>
            <a:ext cx="2870200" cy="1101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8A94A6"/>
                </a:solidFill>
                <a:latin typeface="Arial"/>
              </a:rPr>
              <a:t>n = 1,203 mother–infant pairs, prospective cohort</a:t>
            </a:r>
          </a:p>
        </p:txBody>
      </p:sp>
      <p:sp>
        <p:nvSpPr>
          <p:cNvPr id="4" name="panel 0 (exposure)"/>
          <p:cNvSpPr/>
          <p:nvPr/>
        </p:nvSpPr>
        <p:spPr>
          <a:xfrm>
            <a:off x="50800" y="50800"/>
            <a:ext cx="699545" cy="1374140"/>
          </a:xfrm>
          <a:prstGeom prst="roundRect">
            <a:avLst>
              <a:gd name="adj" fmla="val 7261"/>
            </a:avLst>
          </a:prstGeom>
          <a:solidFill>
            <a:srgbClr val="F8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: envtox/pregnant-woma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17" y="294801"/>
            <a:ext cx="306256" cy="306256"/>
          </a:xfrm>
          <a:prstGeom prst="rect">
            <a:avLst/>
          </a:prstGeom>
        </p:spPr>
      </p:pic>
      <p:pic>
        <p:nvPicPr>
          <p:cNvPr id="6" name="icon: envtox/chemical-flask-hazard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273" y="294801"/>
            <a:ext cx="306256" cy="306256"/>
          </a:xfrm>
          <a:prstGeom prst="rect">
            <a:avLst/>
          </a:prstGeom>
        </p:spPr>
      </p:pic>
      <p:sp>
        <p:nvSpPr>
          <p:cNvPr id="7" name="label: Prenatal"/>
          <p:cNvSpPr txBox="1"/>
          <p:nvPr/>
        </p:nvSpPr>
        <p:spPr>
          <a:xfrm>
            <a:off x="88900" y="826008"/>
            <a:ext cx="623345" cy="3723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937"/>
                </a:solidFill>
                <a:latin typeface="Arial"/>
              </a:rPr>
              <a:t>Prenatal</a:t>
            </a:r>
          </a:p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937"/>
                </a:solidFill>
                <a:latin typeface="Arial"/>
              </a:rPr>
              <a:t>PFAS</a:t>
            </a:r>
          </a:p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937"/>
                </a:solidFill>
                <a:latin typeface="Arial"/>
              </a:rPr>
              <a:t>exposure</a:t>
            </a:r>
          </a:p>
        </p:txBody>
      </p:sp>
      <p:sp>
        <p:nvSpPr>
          <p:cNvPr id="8" name="label: maternal serum,"/>
          <p:cNvSpPr txBox="1"/>
          <p:nvPr/>
        </p:nvSpPr>
        <p:spPr>
          <a:xfrm>
            <a:off x="88900" y="1185672"/>
            <a:ext cx="623345" cy="207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4B5563"/>
                </a:solidFill>
                <a:latin typeface="Arial"/>
              </a:rPr>
              <a:t>maternal serum,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4B5563"/>
                </a:solidFill>
                <a:latin typeface="Arial"/>
              </a:rPr>
              <a:t>1st trimester</a:t>
            </a:r>
          </a:p>
        </p:txBody>
      </p:sp>
      <p:sp>
        <p:nvSpPr>
          <p:cNvPr id="9" name="panel 1 (mechanism)"/>
          <p:cNvSpPr/>
          <p:nvPr/>
        </p:nvSpPr>
        <p:spPr>
          <a:xfrm>
            <a:off x="1136127" y="50800"/>
            <a:ext cx="699545" cy="1374140"/>
          </a:xfrm>
          <a:prstGeom prst="roundRect">
            <a:avLst>
              <a:gd name="adj" fmla="val 7261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envtox/placenta-umbilical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5260" y="458805"/>
            <a:ext cx="307940" cy="307940"/>
          </a:xfrm>
          <a:prstGeom prst="rect">
            <a:avLst/>
          </a:prstGeom>
        </p:spPr>
      </p:pic>
      <p:pic>
        <p:nvPicPr>
          <p:cNvPr id="11" name="icon: envtox/inflammation-cell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8600" y="458805"/>
            <a:ext cx="307940" cy="307940"/>
          </a:xfrm>
          <a:prstGeom prst="rect">
            <a:avLst/>
          </a:prstGeom>
        </p:spPr>
      </p:pic>
      <p:sp>
        <p:nvSpPr>
          <p:cNvPr id="12" name="label: Placental"/>
          <p:cNvSpPr txBox="1"/>
          <p:nvPr/>
        </p:nvSpPr>
        <p:spPr>
          <a:xfrm>
            <a:off x="1174227" y="1155700"/>
            <a:ext cx="623345" cy="237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F2937"/>
                </a:solidFill>
                <a:latin typeface="Arial"/>
              </a:rPr>
              <a:t>Placental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F2937"/>
                </a:solidFill>
                <a:latin typeface="Arial"/>
              </a:rPr>
              <a:t>inflammation</a:t>
            </a:r>
          </a:p>
        </p:txBody>
      </p:sp>
      <p:sp>
        <p:nvSpPr>
          <p:cNvPr id="13" name="panel 2 (outcome)"/>
          <p:cNvSpPr/>
          <p:nvPr/>
        </p:nvSpPr>
        <p:spPr>
          <a:xfrm>
            <a:off x="2221455" y="50800"/>
            <a:ext cx="699545" cy="1374140"/>
          </a:xfrm>
          <a:prstGeom prst="roundRect">
            <a:avLst>
              <a:gd name="adj" fmla="val 7261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envtox/fetus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59555" y="152957"/>
            <a:ext cx="623345" cy="623345"/>
          </a:xfrm>
          <a:prstGeom prst="rect">
            <a:avLst/>
          </a:prstGeom>
        </p:spPr>
      </p:pic>
      <p:sp>
        <p:nvSpPr>
          <p:cNvPr id="15" name="label: Lower birth"/>
          <p:cNvSpPr txBox="1"/>
          <p:nvPr/>
        </p:nvSpPr>
        <p:spPr>
          <a:xfrm>
            <a:off x="2259555" y="859409"/>
            <a:ext cx="623345" cy="2524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937"/>
                </a:solidFill>
                <a:latin typeface="Arial"/>
              </a:rPr>
              <a:t>Lower birth</a:t>
            </a:r>
          </a:p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937"/>
                </a:solidFill>
                <a:latin typeface="Arial"/>
              </a:rPr>
              <a:t>weight</a:t>
            </a:r>
          </a:p>
        </p:txBody>
      </p:sp>
      <p:sp>
        <p:nvSpPr>
          <p:cNvPr id="16" name="badge: −48 g per ln-unit"/>
          <p:cNvSpPr/>
          <p:nvPr/>
        </p:nvSpPr>
        <p:spPr>
          <a:xfrm>
            <a:off x="2321444" y="1124585"/>
            <a:ext cx="499566" cy="262255"/>
          </a:xfrm>
          <a:prstGeom prst="roundRect">
            <a:avLst>
              <a:gd name="adj" fmla="val 50000"/>
            </a:avLst>
          </a:prstGeom>
          <a:solidFill>
            <a:srgbClr val="7B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Arial"/>
              </a:rPr>
              <a:t>−48 g per</a:t>
            </a:r>
          </a:p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Arial"/>
              </a:rPr>
              <a:t>ln-unit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769395" y="530352"/>
            <a:ext cx="347682" cy="0"/>
          </a:xfrm>
          <a:prstGeom prst="line">
            <a:avLst/>
          </a:prstGeom>
          <a:ln w="1778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: mediates"/>
          <p:cNvCxnSpPr/>
          <p:nvPr/>
        </p:nvCxnSpPr>
        <p:spPr>
          <a:xfrm>
            <a:off x="1854723" y="538702"/>
            <a:ext cx="347682" cy="0"/>
          </a:xfrm>
          <a:prstGeom prst="line">
            <a:avLst/>
          </a:prstGeom>
          <a:ln w="17780">
            <a:solidFill>
              <a:srgbClr val="9AA5B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: mediates"/>
          <p:cNvSpPr txBox="1"/>
          <p:nvPr/>
        </p:nvSpPr>
        <p:spPr>
          <a:xfrm>
            <a:off x="1727723" y="414242"/>
            <a:ext cx="601682" cy="1101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9AA5B1"/>
                </a:solidFill>
                <a:latin typeface="Arial"/>
              </a:rPr>
              <a:t>mediates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